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4538"/>
                </a:solidFill>
                <a:latin typeface="Noto Sans CJK KR"/>
              </a:rPr>
              <a:t>WhyTree  |  뚜(TTU) · 개인 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560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16C5C"/>
                </a:solidFill>
                <a:latin typeface="Noto Sans CJK KR"/>
              </a:rPr>
              <a:t>오명석 · 2026-10-29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16C5C"/>
                </a:solidFill>
                <a:latin typeface="Noto Sans CJK KR"/>
              </a:rPr>
              <a:t>씨앗 다섯 가지에서 WHY로 올라간 뒤, 주선자 지속 활동을 위한 새로운 HOW를 탐색</a:t>
            </a:r>
          </a:p>
        </p:txBody>
      </p:sp>
      <p:sp>
        <p:nvSpPr>
          <p:cNvPr id="5" name="W0: 신뢰와 선택으로 만드는 실제 소개 기회"/>
          <p:cNvSpPr/>
          <p:nvPr/>
        </p:nvSpPr>
        <p:spPr>
          <a:xfrm>
            <a:off x="3977639" y="1097280"/>
            <a:ext cx="420624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254538"/>
                </a:solidFill>
                <a:latin typeface="Noto Sans CJK KR"/>
              </a:rPr>
              <a:t>신뢰와 선택으로 만드는 실제 소개 기회</a:t>
            </a:r>
          </a:p>
        </p:txBody>
      </p:sp>
      <p:sp>
        <p:nvSpPr>
          <p:cNvPr id="6" name="W1: 믿고 참여할 수 있는 소개"/>
          <p:cNvSpPr/>
          <p:nvPr/>
        </p:nvSpPr>
        <p:spPr>
          <a:xfrm>
            <a:off x="502920" y="2103120"/>
            <a:ext cx="297180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254538"/>
                </a:solidFill>
                <a:latin typeface="Noto Sans CJK KR"/>
              </a:rPr>
              <a:t>믿고 참여할 수 있는 소개</a:t>
            </a:r>
          </a:p>
        </p:txBody>
      </p:sp>
      <p:sp>
        <p:nvSpPr>
          <p:cNvPr id="7" name="W2: 싱글이 만드는 소개 기회"/>
          <p:cNvSpPr/>
          <p:nvPr/>
        </p:nvSpPr>
        <p:spPr>
          <a:xfrm>
            <a:off x="4572000" y="2103120"/>
            <a:ext cx="292608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254538"/>
                </a:solidFill>
                <a:latin typeface="Noto Sans CJK KR"/>
              </a:rPr>
              <a:t>싱글이 만드는 소개 기회</a:t>
            </a:r>
          </a:p>
        </p:txBody>
      </p:sp>
      <p:sp>
        <p:nvSpPr>
          <p:cNvPr id="8" name="W3: 지속 가능한 소개 활동"/>
          <p:cNvSpPr/>
          <p:nvPr/>
        </p:nvSpPr>
        <p:spPr>
          <a:xfrm>
            <a:off x="8668512" y="2103120"/>
            <a:ext cx="292608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254538"/>
                </a:solidFill>
                <a:latin typeface="Noto Sans CJK KR"/>
              </a:rPr>
              <a:t>지속 가능한 소개 활동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988819" y="1554480"/>
            <a:ext cx="4091940" cy="54864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35040" y="1554480"/>
            <a:ext cx="45719" cy="54864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6080759" y="1554480"/>
            <a:ext cx="4050793" cy="54864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W11: 아는 사람을 통한 출발"/>
          <p:cNvSpPr/>
          <p:nvPr/>
        </p:nvSpPr>
        <p:spPr>
          <a:xfrm>
            <a:off x="228600" y="3154680"/>
            <a:ext cx="178308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아는 사람을 통한 출발</a:t>
            </a:r>
          </a:p>
        </p:txBody>
      </p:sp>
      <p:sp>
        <p:nvSpPr>
          <p:cNvPr id="13" name="W12: 정보와 소개 결정의 통제"/>
          <p:cNvSpPr/>
          <p:nvPr/>
        </p:nvSpPr>
        <p:spPr>
          <a:xfrm>
            <a:off x="2148840" y="3154680"/>
            <a:ext cx="178308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정보와 소개 결정의 통제</a:t>
            </a:r>
          </a:p>
        </p:txBody>
      </p:sp>
      <p:sp>
        <p:nvSpPr>
          <p:cNvPr id="14" name="W21: 연결 경로의 확대"/>
          <p:cNvSpPr/>
          <p:nvPr/>
        </p:nvSpPr>
        <p:spPr>
          <a:xfrm>
            <a:off x="4206240" y="3154680"/>
            <a:ext cx="178308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연결 경로의 확대</a:t>
            </a:r>
          </a:p>
        </p:txBody>
      </p:sp>
      <p:sp>
        <p:nvSpPr>
          <p:cNvPr id="15" name="W22: 대기 없이 관심 표현"/>
          <p:cNvSpPr/>
          <p:nvPr/>
        </p:nvSpPr>
        <p:spPr>
          <a:xfrm>
            <a:off x="6144768" y="3154680"/>
            <a:ext cx="178308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대기 없이 관심 표현</a:t>
            </a:r>
          </a:p>
        </p:txBody>
      </p:sp>
      <p:sp>
        <p:nvSpPr>
          <p:cNvPr id="16" name="W31: 주선자 간 탐색 수고 감소"/>
          <p:cNvSpPr/>
          <p:nvPr/>
        </p:nvSpPr>
        <p:spPr>
          <a:xfrm>
            <a:off x="8202168" y="3154680"/>
            <a:ext cx="178308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주선자 간 탐색 수고 감소</a:t>
            </a:r>
          </a:p>
        </p:txBody>
      </p:sp>
      <p:sp>
        <p:nvSpPr>
          <p:cNvPr id="17" name="W32: 다음 행동의 명확성"/>
          <p:cNvSpPr/>
          <p:nvPr/>
        </p:nvSpPr>
        <p:spPr>
          <a:xfrm>
            <a:off x="10104120" y="3154680"/>
            <a:ext cx="178308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4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다음 행동의 명확성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120140" y="2560320"/>
            <a:ext cx="868679" cy="59436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988819" y="2560320"/>
            <a:ext cx="1051561" cy="59436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97779" y="2560320"/>
            <a:ext cx="937261" cy="59436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6035040" y="2560320"/>
            <a:ext cx="1001267" cy="59436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93708" y="2560320"/>
            <a:ext cx="1037844" cy="59436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0131552" y="2560320"/>
            <a:ext cx="864108" cy="59436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1: S1 기혼 주선자의 지인 초대"/>
          <p:cNvSpPr/>
          <p:nvPr/>
        </p:nvSpPr>
        <p:spPr>
          <a:xfrm>
            <a:off x="137160" y="4480560"/>
            <a:ext cx="1874519" cy="457200"/>
          </a:xfrm>
          <a:prstGeom prst="roundRect">
            <a:avLst/>
          </a:prstGeom>
          <a:solidFill>
            <a:srgbClr val="FEF2DB"/>
          </a:solidFill>
          <a:ln w="25400">
            <a:solidFill>
              <a:srgbClr val="F0A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S1 기혼 주선자의 지인 초대</a:t>
            </a:r>
          </a:p>
        </p:txBody>
      </p:sp>
      <p:sp>
        <p:nvSpPr>
          <p:cNvPr id="25" name="S4: S4 공개 수준과 양측 동의"/>
          <p:cNvSpPr/>
          <p:nvPr/>
        </p:nvSpPr>
        <p:spPr>
          <a:xfrm>
            <a:off x="2103120" y="4480560"/>
            <a:ext cx="1874519" cy="457200"/>
          </a:xfrm>
          <a:prstGeom prst="roundRect">
            <a:avLst/>
          </a:prstGeom>
          <a:solidFill>
            <a:srgbClr val="FEF2DB"/>
          </a:solidFill>
          <a:ln w="25400">
            <a:solidFill>
              <a:srgbClr val="F0A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S4 공개 수준과 양측 동의</a:t>
            </a:r>
          </a:p>
        </p:txBody>
      </p:sp>
      <p:sp>
        <p:nvSpPr>
          <p:cNvPr id="26" name="S2: S2 복수 주선자 개별 연결"/>
          <p:cNvSpPr/>
          <p:nvPr/>
        </p:nvSpPr>
        <p:spPr>
          <a:xfrm>
            <a:off x="4160520" y="4480560"/>
            <a:ext cx="1874519" cy="457200"/>
          </a:xfrm>
          <a:prstGeom prst="roundRect">
            <a:avLst/>
          </a:prstGeom>
          <a:solidFill>
            <a:srgbClr val="FEF2DB"/>
          </a:solidFill>
          <a:ln w="25400">
            <a:solidFill>
              <a:srgbClr val="F0A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S2 복수 주선자 개별 연결</a:t>
            </a:r>
          </a:p>
        </p:txBody>
      </p:sp>
      <p:sp>
        <p:nvSpPr>
          <p:cNvPr id="27" name="S5: S5 스타일 요청·주선자 넛지"/>
          <p:cNvSpPr/>
          <p:nvPr/>
        </p:nvSpPr>
        <p:spPr>
          <a:xfrm>
            <a:off x="6126480" y="4480560"/>
            <a:ext cx="1874519" cy="457200"/>
          </a:xfrm>
          <a:prstGeom prst="roundRect">
            <a:avLst/>
          </a:prstGeom>
          <a:solidFill>
            <a:srgbClr val="FEF2DB"/>
          </a:solidFill>
          <a:ln w="25400">
            <a:solidFill>
              <a:srgbClr val="F0A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S5 스타일 요청·주선자 넛지</a:t>
            </a:r>
          </a:p>
        </p:txBody>
      </p:sp>
      <p:sp>
        <p:nvSpPr>
          <p:cNvPr id="28" name="S3: S3 주선자 간 협력 링크"/>
          <p:cNvSpPr/>
          <p:nvPr/>
        </p:nvSpPr>
        <p:spPr>
          <a:xfrm>
            <a:off x="8165592" y="4480560"/>
            <a:ext cx="1874519" cy="457200"/>
          </a:xfrm>
          <a:prstGeom prst="roundRect">
            <a:avLst/>
          </a:prstGeom>
          <a:solidFill>
            <a:srgbClr val="FEF2DB"/>
          </a:solidFill>
          <a:ln w="25400">
            <a:solidFill>
              <a:srgbClr val="F0A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S3 주선자 간 협력 링크</a:t>
            </a:r>
          </a:p>
        </p:txBody>
      </p:sp>
      <p:sp>
        <p:nvSpPr>
          <p:cNvPr id="29" name="H1: H1 요청 수신량 조절"/>
          <p:cNvSpPr/>
          <p:nvPr/>
        </p:nvSpPr>
        <p:spPr>
          <a:xfrm>
            <a:off x="10076688" y="4480560"/>
            <a:ext cx="1874519" cy="457200"/>
          </a:xfrm>
          <a:prstGeom prst="roundRect">
            <a:avLst/>
          </a:prstGeom>
          <a:solidFill>
            <a:srgbClr val="F6FFF5"/>
          </a:solidFill>
          <a:ln w="13970">
            <a:solidFill>
              <a:srgbClr val="516C5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H1 요청 수신량 조절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74419" y="3611880"/>
            <a:ext cx="45721" cy="86868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040379" y="3611880"/>
            <a:ext cx="1" cy="86868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97779" y="3611880"/>
            <a:ext cx="0" cy="86868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7036307" y="3611880"/>
            <a:ext cx="27433" cy="86868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9093708" y="3611880"/>
            <a:ext cx="9144" cy="868680"/>
          </a:xfrm>
          <a:prstGeom prst="line">
            <a:avLst/>
          </a:prstGeom>
          <a:ln w="20320">
            <a:solidFill>
              <a:srgbClr val="A1B2A4"/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995660" y="3611880"/>
            <a:ext cx="18288" cy="868680"/>
          </a:xfrm>
          <a:prstGeom prst="line">
            <a:avLst/>
          </a:prstGeom>
          <a:ln w="20320">
            <a:solidFill>
              <a:srgbClr val="A1B2A4"/>
            </a:solidFill>
            <a:prstDash val="dash"/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190488" y="5193792"/>
            <a:ext cx="1828800" cy="347472"/>
          </a:xfrm>
          <a:prstGeom prst="roundRect">
            <a:avLst/>
          </a:prstGeom>
          <a:solidFill>
            <a:srgbClr val="E6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4538"/>
                </a:solidFill>
                <a:latin typeface="Noto Sans CJK KR"/>
              </a:rPr>
              <a:t>이번 HW6 기능: S5 / F18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6509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16C5C"/>
                </a:solidFill>
                <a:latin typeface="Noto Sans CJK KR"/>
              </a:rPr>
              <a:t>노란 상자 = 기존 PRD 씨앗 5개  |  점선 상자 = 새 제안(H1, 미확정)  |  화살표는 HOW에서 WHY로 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0441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16C5C"/>
                </a:solidFill>
                <a:latin typeface="Noto Sans CJK KR"/>
              </a:rPr>
              <a:t>S5는 싱글의 능동적 관심 표현이 주목적이며, 주선자의 다음 행동을 알려주는 보조 역할도 함. 공개 정책·실제 사용자 검증은 팀 작업과 별개.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211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Pretendard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 Soo Yi</cp:lastModifiedBy>
  <cp:revision>4</cp:revision>
  <dcterms:created xsi:type="dcterms:W3CDTF">2013-01-27T09:14:16Z</dcterms:created>
  <dcterms:modified xsi:type="dcterms:W3CDTF">2026-10-16T23:12:43Z</dcterms:modified>
  <cp:category/>
</cp:coreProperties>
</file>